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0" y="-1463040"/>
            <a:ext cx="4114800" cy="4114800"/>
          </a:xfrm>
          <a:prstGeom prst="ellipse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4023360"/>
            <a:ext cx="3291840" cy="3291840"/>
          </a:xfrm>
          <a:prstGeom prst="ellipse">
            <a:avLst/>
          </a:prstGeom>
          <a:solidFill>
            <a:srgbClr val="0F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方案提案 ·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24128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一键一生 </a:t>
            </a:r>
            <a:r>
              <a:rPr sz="4600" b="1">
                <a:solidFill>
                  <a:srgbClr val="3B82F6"/>
                </a:solidFill>
                <a:latin typeface="Microsoft YaHei"/>
              </a:rPr>
              <a:t>× </a:t>
            </a:r>
            <a:r>
              <a:rPr sz="4600" b="1">
                <a:solidFill>
                  <a:srgbClr val="3B82F6"/>
                </a:solidFill>
                <a:latin typeface="Microsoft YaHei"/>
              </a:rPr>
              <a:t>AI 伴读助手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6EEF7"/>
                </a:solidFill>
                <a:latin typeface="Microsoft YaHei"/>
              </a:rPr>
              <a:t>让晶圆良率根因分析  会读 · 会想 · 会动手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0424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Microsoft YaHei"/>
              </a:rPr>
              <a:t>面向半导体 Wafer 全生命周期根因分析的智能体方案 —— 将 AI 助手嵌入现有「一键一生」框架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463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B82F6"/>
                </a:solidFill>
                <a:latin typeface="Microsoft YaHei"/>
              </a:rPr>
              <a:t>👁 伴读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48463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48463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9D55"/>
                </a:solidFill>
                <a:latin typeface="Microsoft YaHei"/>
              </a:rPr>
              <a:t>🔍 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48463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48463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0A020"/>
                </a:solidFill>
                <a:latin typeface="Microsoft YaHei"/>
              </a:rPr>
              <a:t>💡 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48463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48463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B2FF7"/>
                </a:solidFill>
                <a:latin typeface="Microsoft YaHei"/>
              </a:rPr>
              <a:t>🤖 会动手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8463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846320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B82F6"/>
                </a:solidFill>
                <a:latin typeface="Microsoft YaHei"/>
              </a:rPr>
              <a:t>🧠 学习习惯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5216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目标：以低风险、可私有化、即插即用的方式，提升提交正确率、根因定位效率与经验沉淀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内容提要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515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◧ 一键一生 × AI 伴读助手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1005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02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12080" cy="1034186"/>
          </a:xfrm>
          <a:prstGeom prst="roundRect">
            <a:avLst>
              <a:gd name="adj" fmla="val 6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100584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737360"/>
            <a:ext cx="384048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背景与痛点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一键一生为何需要 AI 助手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212080" cy="1034186"/>
          </a:xfrm>
          <a:prstGeom prst="roundRect">
            <a:avLst>
              <a:gd name="adj" fmla="val 6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100584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737360"/>
            <a:ext cx="384048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方案总览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三栏布局 + Agent 引擎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49854"/>
            <a:ext cx="5212080" cy="1034186"/>
          </a:xfrm>
          <a:prstGeom prst="roundRect">
            <a:avLst>
              <a:gd name="adj" fmla="val 6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49854"/>
            <a:ext cx="100584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49854"/>
            <a:ext cx="384048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核心能力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伴读 / 分析 / 建议 + 会动手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49854"/>
            <a:ext cx="5212080" cy="1034186"/>
          </a:xfrm>
          <a:prstGeom prst="roundRect">
            <a:avLst>
              <a:gd name="adj" fmla="val 6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49854"/>
            <a:ext cx="100584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949854"/>
            <a:ext cx="384048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技术架构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前端智能体 + 后端代理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62348"/>
            <a:ext cx="5212080" cy="1034186"/>
          </a:xfrm>
          <a:prstGeom prst="roundRect">
            <a:avLst>
              <a:gd name="adj" fmla="val 6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62348"/>
            <a:ext cx="100584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162348"/>
            <a:ext cx="384048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集成方式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低侵入嵌入现有框架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162348"/>
            <a:ext cx="5212080" cy="1034186"/>
          </a:xfrm>
          <a:prstGeom prst="roundRect">
            <a:avLst>
              <a:gd name="adj" fmla="val 6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162348"/>
            <a:ext cx="100584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162348"/>
            <a:ext cx="384048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兼容场景与优势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私有化 · 合规 · 即插即用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5374843"/>
            <a:ext cx="5212080" cy="1034186"/>
          </a:xfrm>
          <a:prstGeom prst="roundRect">
            <a:avLst>
              <a:gd name="adj" fmla="val 6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5374843"/>
            <a:ext cx="100584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374843"/>
            <a:ext cx="3840480" cy="103418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路线图与行动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灰度落地与风险对策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01  背景与痛点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一键一生很强，但"用好它"有门槛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515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◧ 一键一生 × AI 伴读助手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1005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03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FB3C8"/>
                </a:solidFill>
                <a:latin typeface="Microsoft YaHei"/>
              </a:rPr>
              <a:t>现有「一键一生」页面选项丰富（场景/呈现/分析），能一键还原晶圆全链路；但配置链路长、结果信息密度大，"会用、用对、读懂"高度依赖经验。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2606040" cy="1874519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58568"/>
            <a:ext cx="64008" cy="1655063"/>
          </a:xfrm>
          <a:prstGeom prst="rect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295144"/>
            <a:ext cx="2295144" cy="1600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⚠ 配置门槛高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选项多、必填项易漏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新手易错填，返工成本高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148840"/>
            <a:ext cx="2606040" cy="1874519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258568"/>
            <a:ext cx="64008" cy="1655063"/>
          </a:xfrm>
          <a:prstGeom prst="rect">
            <a:avLst/>
          </a:prstGeom>
          <a:solidFill>
            <a:srgbClr val="F0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295144"/>
            <a:ext cx="2295144" cy="1600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📉 结果难解读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晶圆图/趋势/缺陷/根因并列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快速判读依赖资深工程师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48840"/>
            <a:ext cx="2606040" cy="1874519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258568"/>
            <a:ext cx="64008" cy="1655063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295144"/>
            <a:ext cx="2295144" cy="1600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🧓 经验依赖强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根因判断靠"老师傅"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知识难以标准化沉淀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2148840"/>
            <a:ext cx="2606040" cy="1874519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39" y="2258568"/>
            <a:ext cx="64008" cy="1655063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7" y="2295144"/>
            <a:ext cx="2295144" cy="16001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🔁 操作重复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常用配置反复手填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个人习惯无法被系统记住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43400"/>
            <a:ext cx="10908792" cy="1554480"/>
          </a:xfrm>
          <a:prstGeom prst="roundRect">
            <a:avLst>
              <a:gd name="adj" fmla="val 4000"/>
            </a:avLst>
          </a:prstGeom>
          <a:solidFill>
            <a:srgbClr val="0F182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10424160" cy="1325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9D55"/>
                </a:solidFill>
                <a:latin typeface="Microsoft YaHei"/>
              </a:rPr>
              <a:t>机会 → 在页面右侧嵌入 AI 助手，恰好补齐这四块短板：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伴读</a:t>
            </a:r>
            <a:r>
              <a:rPr sz="1300" b="0">
                <a:solidFill>
                  <a:srgbClr val="9FB3C8"/>
                </a:solidFill>
                <a:latin typeface="Microsoft YaHei"/>
              </a:rPr>
              <a:t>  降低解读门槛   ·   </a:t>
            </a:r>
            <a:r>
              <a:rPr sz="1300" b="1">
                <a:solidFill>
                  <a:srgbClr val="3B82F6"/>
                </a:solidFill>
                <a:latin typeface="Microsoft YaHei"/>
              </a:rPr>
              <a:t>建议</a:t>
            </a:r>
            <a:r>
              <a:rPr sz="1300" b="0">
                <a:solidFill>
                  <a:srgbClr val="9FB3C8"/>
                </a:solidFill>
                <a:latin typeface="Microsoft YaHei"/>
              </a:rPr>
              <a:t>  保证正确提交   ·   </a:t>
            </a:r>
            <a:r>
              <a:rPr sz="1300" b="1">
                <a:solidFill>
                  <a:srgbClr val="3B82F6"/>
                </a:solidFill>
                <a:latin typeface="Microsoft YaHei"/>
              </a:rPr>
              <a:t>分析</a:t>
            </a:r>
            <a:r>
              <a:rPr sz="1300" b="0">
                <a:solidFill>
                  <a:srgbClr val="9FB3C8"/>
                </a:solidFill>
                <a:latin typeface="Microsoft YaHei"/>
              </a:rPr>
              <a:t>  沉淀专家经验   ·   </a:t>
            </a:r>
            <a:r>
              <a:rPr sz="1300" b="1">
                <a:solidFill>
                  <a:srgbClr val="3B82F6"/>
                </a:solidFill>
                <a:latin typeface="Microsoft YaHei"/>
              </a:rPr>
              <a:t>智能体</a:t>
            </a:r>
            <a:r>
              <a:rPr sz="1300" b="0">
                <a:solidFill>
                  <a:srgbClr val="9FB3C8"/>
                </a:solidFill>
                <a:latin typeface="Microsoft YaHei"/>
              </a:rPr>
              <a:t>  减少重复操作并持续学习习惯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02  方案总览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一张图看懂：低侵入嵌入页面右侧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515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◧ 一键一生 × AI 伴读助手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1005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04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1" y="1691640"/>
            <a:ext cx="3236976" cy="22860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左 · 配置区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逐步向导
①场景 ②维度 ③呈现 ④提交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91640"/>
            <a:ext cx="3931920" cy="2286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691640"/>
            <a:ext cx="3785615" cy="22860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中 · 结果呈现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晶圆Bin图 · 良率/WAT趋势
缺陷Pareto · 工艺时间轴 · 根因候选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691640"/>
            <a:ext cx="3017520" cy="2286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691640"/>
            <a:ext cx="2871215" cy="22860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右 · AI 助手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伴读 / 分析 / 建议
对话 + 习惯画像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97680"/>
            <a:ext cx="10881360" cy="1417320"/>
          </a:xfrm>
          <a:prstGeom prst="roundRect">
            <a:avLst>
              <a:gd name="adj" fmla="val 4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0A020"/>
                </a:solidFill>
                <a:latin typeface="Microsoft YaHei"/>
              </a:rPr>
              <a:t>Agent 引擎（纯前端，可嵌入任意页面）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80060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800600"/>
            <a:ext cx="2322576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上下文采集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读页面状态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38728" y="480060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4800600"/>
            <a:ext cx="2322576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工具调用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真正改页面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80060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4800600"/>
            <a:ext cx="2322576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习惯学习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沉淀画像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78824" y="480060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F0A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51976" y="4800600"/>
            <a:ext cx="2322576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三来源 LLM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规则/本地/Claude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嵌入方式：新增一个右侧 aside + 一组脚本，</a:t>
            </a:r>
            <a:r>
              <a:rPr sz="1200" b="1">
                <a:solidFill>
                  <a:srgbClr val="1F9D55"/>
                </a:solidFill>
                <a:latin typeface="Microsoft YaHei"/>
              </a:rPr>
              <a:t>不改动现有页面的提交与渲染逻辑</a:t>
            </a:r>
            <a:r>
              <a:rPr sz="1200" b="0">
                <a:solidFill>
                  <a:srgbClr val="9FB3C8"/>
                </a:solidFill>
                <a:latin typeface="Microsoft YaHei"/>
              </a:rPr>
              <a:t>；AI 读取现有 DOM/状态作为上下文。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03  核心能力（一）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伴读 · 分析 · 建议 —— 把页面"讲明白"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515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◧ 一键一生 × AI 伴读助手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1005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05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474720" cy="566928"/>
          </a:xfrm>
          <a:prstGeom prst="roundRect">
            <a:avLst>
              <a:gd name="adj" fmla="val 1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011680"/>
            <a:ext cx="3474720" cy="246888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37360"/>
            <a:ext cx="32004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👁 伴读 Companion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306324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6EEF7"/>
                </a:solidFill>
                <a:latin typeface="Microsoft YaHei"/>
              </a:rPr>
              <a:t>•  读懂当前页面状态与各面板含义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6EEF7"/>
                </a:solidFill>
                <a:latin typeface="Microsoft YaHei"/>
              </a:rPr>
              <a:t>•  区分"配置中 / 已出结果"两态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6EEF7"/>
                </a:solidFill>
                <a:latin typeface="Microsoft YaHei"/>
              </a:rPr>
              <a:t>•  提交后自动伴读，降低解读门槛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4343400"/>
            <a:ext cx="3108960" cy="548640"/>
          </a:xfrm>
          <a:prstGeom prst="roundRect">
            <a:avLst>
              <a:gd name="adj" fmla="val 12000"/>
            </a:avLst>
          </a:prstGeom>
          <a:solidFill>
            <a:srgbClr val="0F1828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343400"/>
            <a:ext cx="2926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FB3C8"/>
                </a:solidFill>
                <a:latin typeface="Microsoft YaHei"/>
              </a:rPr>
              <a:t>例：“良率 85.5%，缺陷呈中心聚集，右侧从上到下是…”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69164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1691640"/>
            <a:ext cx="3474720" cy="566928"/>
          </a:xfrm>
          <a:prstGeom prst="roundRect">
            <a:avLst>
              <a:gd name="adj" fmla="val 18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011680"/>
            <a:ext cx="3474720" cy="246888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737360"/>
            <a:ext cx="32004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🔍 分析 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23160"/>
            <a:ext cx="306324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6EEF7"/>
                </a:solidFill>
                <a:latin typeface="Microsoft YaHei"/>
              </a:rPr>
              <a:t>•  基于 commonality 打分做根因分析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6EEF7"/>
                </a:solidFill>
                <a:latin typeface="Microsoft YaHei"/>
              </a:rPr>
              <a:t>•  输出按关联度排序的候选 + 置信度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6EEF7"/>
                </a:solidFill>
                <a:latin typeface="Microsoft YaHei"/>
              </a:rPr>
              <a:t>•  自动高亮对应结果面板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343400"/>
            <a:ext cx="3108960" cy="548640"/>
          </a:xfrm>
          <a:prstGeom prst="roundRect">
            <a:avLst>
              <a:gd name="adj" fmla="val 12000"/>
            </a:avLst>
          </a:prstGeom>
          <a:solidFill>
            <a:srgbClr val="0F1828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4343400"/>
            <a:ext cx="2926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FB3C8"/>
                </a:solidFill>
                <a:latin typeface="Microsoft YaHei"/>
              </a:rPr>
              <a:t>例：“最可能根因：CMP-02，置信度 86%”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169164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19" y="1691640"/>
            <a:ext cx="3474720" cy="566928"/>
          </a:xfrm>
          <a:prstGeom prst="roundRect">
            <a:avLst>
              <a:gd name="adj" fmla="val 18000"/>
            </a:avLst>
          </a:prstGeom>
          <a:solidFill>
            <a:srgbClr val="F0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19" y="2011680"/>
            <a:ext cx="3474720" cy="246888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1737360"/>
            <a:ext cx="32004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💡 建议 Advise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423160"/>
            <a:ext cx="306324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6EEF7"/>
                </a:solidFill>
                <a:latin typeface="Microsoft YaHei"/>
              </a:rPr>
              <a:t>•  校验填表完整性并指出问题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6EEF7"/>
                </a:solidFill>
                <a:latin typeface="Microsoft YaHei"/>
              </a:rPr>
              <a:t>•  一键修正必填项后再提交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6EEF7"/>
                </a:solidFill>
                <a:latin typeface="Microsoft YaHei"/>
              </a:rPr>
              <a:t>•  给出隔离/复测/扩样等处置动作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599" y="4343400"/>
            <a:ext cx="3108960" cy="548640"/>
          </a:xfrm>
          <a:prstGeom prst="roundRect">
            <a:avLst>
              <a:gd name="adj" fmla="val 12000"/>
            </a:avLst>
          </a:prstGeom>
          <a:solidFill>
            <a:srgbClr val="0F1828"/>
          </a:solidFill>
          <a:ln w="12700">
            <a:solidFill>
              <a:srgbClr val="F0A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7" y="4343400"/>
            <a:ext cx="2926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FB3C8"/>
                </a:solidFill>
                <a:latin typeface="Microsoft YaHei"/>
              </a:rPr>
              <a:t>例：“缺 Wafer ID 与维度，已帮你补全→可提交”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FB3C8"/>
                </a:solidFill>
                <a:latin typeface="Microsoft YaHei"/>
              </a:rPr>
              <a:t>三种能力共享同一"页面上下文 + 工具"，回答均基于真实数据，不编造数值。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03  核心能力（二）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智能体：不只是聊天框，能"动手"操作页面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515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◧ 一键一生 × AI 伴读助手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1005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06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1" y="1920240"/>
            <a:ext cx="1728216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FB3C8"/>
                </a:solidFill>
                <a:latin typeface="Microsoft YaHei"/>
              </a:rPr>
              <a:t>用户/意图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51176" y="2276856"/>
            <a:ext cx="347472" cy="292608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192024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1920240"/>
            <a:ext cx="1728216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LLM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页面上下文+工具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37176" y="2276856"/>
            <a:ext cx="347472" cy="292608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192024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1920240"/>
            <a:ext cx="1728216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EEF7"/>
                </a:solidFill>
                <a:latin typeface="Microsoft YaHei"/>
              </a:rPr>
              <a:t>文本 + 工具调用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23176" y="2276856"/>
            <a:ext cx="347472" cy="292608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79" y="192024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1F9D55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1920240"/>
            <a:ext cx="1728216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前端执行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真正改 DOM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09176" y="2276856"/>
            <a:ext cx="347472" cy="292608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84080" y="192024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57232" y="1920240"/>
            <a:ext cx="1728216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EEF7"/>
                </a:solidFill>
                <a:latin typeface="Microsoft YaHei"/>
              </a:rPr>
              <a:t>页面更新</a:t>
            </a:r>
          </a:p>
        </p:txBody>
      </p:sp>
      <p:sp>
        <p:nvSpPr>
          <p:cNvPr id="23" name="Up Arrow 22"/>
          <p:cNvSpPr/>
          <p:nvPr/>
        </p:nvSpPr>
        <p:spPr>
          <a:xfrm>
            <a:off x="5486400" y="3200400"/>
            <a:ext cx="292608" cy="457200"/>
          </a:xfrm>
          <a:prstGeom prst="up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循环：可继续追问，AI 依据更新后的页面再决策（单轮可执行，生产可升级为多轮 agentic loop）。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14800"/>
            <a:ext cx="10908792" cy="1783080"/>
          </a:xfrm>
          <a:prstGeom prst="roundRect">
            <a:avLst>
              <a:gd name="adj" fmla="val 4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224528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0A020"/>
                </a:solidFill>
                <a:latin typeface="Microsoft YaHei"/>
              </a:rPr>
              <a:t>🔧 已注册的页面工具（白名单，仅安全动作）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70916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4709160"/>
            <a:ext cx="1847088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set_scenario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填写/修正场景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90087" y="470916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39" y="4709160"/>
            <a:ext cx="1847088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set_analysis_dims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设置分析维度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11496" y="470916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84648" y="4709160"/>
            <a:ext cx="1847088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run_lifecycle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提交一键一生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32903" y="470916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06055" y="4709160"/>
            <a:ext cx="1847088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focus_panel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定位/高亮面板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54311" y="470916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7463" y="4709160"/>
            <a:ext cx="1847088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apply_my_habits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套用我的习惯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3C8"/>
                </a:solidFill>
                <a:latin typeface="Microsoft YaHei"/>
              </a:rPr>
              <a:t>兼容层：支持原生 function-calling 的模型直接用；不支持的本地模型解析 ```action {json}``` 动作块 —— 同样能动手。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03  核心能力（三）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智能体：持续学习用户习惯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515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◧ 一键一生 × AI 伴读助手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1005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07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3716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81912" y="1371600"/>
            <a:ext cx="2322576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行为埋点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配置/提交/聚焦/意图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716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371600"/>
            <a:ext cx="2322576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习惯画像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常用Fab·节点·维度·意图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749039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3749039"/>
            <a:ext cx="2322576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个性化反哺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默认值 / 建议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3749039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F0A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81912" y="3749039"/>
            <a:ext cx="2322576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用户采纳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一键套用习惯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12080" y="1691640"/>
            <a:ext cx="1463040" cy="310896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8138160" y="2743200"/>
            <a:ext cx="310896" cy="1097280"/>
          </a:xfrm>
          <a:prstGeom prst="down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5212080" y="4800600"/>
            <a:ext cx="1463040" cy="310896"/>
          </a:xfrm>
          <a:prstGeom prst="lef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19"/>
          <p:cNvSpPr/>
          <p:nvPr/>
        </p:nvSpPr>
        <p:spPr>
          <a:xfrm>
            <a:off x="2834640" y="2743200"/>
            <a:ext cx="310896" cy="1097280"/>
          </a:xfrm>
          <a:prstGeom prst="up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0640" y="2834639"/>
            <a:ext cx="1828800" cy="82296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2834639"/>
            <a:ext cx="1682496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🧠 越用越懂你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82880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1938528"/>
            <a:ext cx="64008" cy="28895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1975104"/>
            <a:ext cx="2432304" cy="2834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✨ 带来什么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Microsoft YaHei"/>
              </a:rPr>
              <a:t>•  新手 → 资深的经验沉淀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Microsoft YaHei"/>
              </a:rPr>
              <a:t>•  减少重复手填，提效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Microsoft YaHei"/>
              </a:rPr>
              <a:t>•  个性化默认值更贴合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Microsoft YaHei"/>
              </a:rPr>
              <a:t>•  画像本地存储，隐私可控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生产可升级为跨会话记忆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04  技术架构（一）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三种 AI 来源 · 一键切换 · 私有化友好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515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◧ 一键一生 × AI 伴读助手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1005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08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28800"/>
          <a:ext cx="1090879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3200400"/>
                <a:gridCol w="2011680"/>
                <a:gridCol w="1828800"/>
                <a:gridCol w="1581912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AI 来源</a:t>
                      </a:r>
                    </a:p>
                  </a:txBody>
                  <a:tcPr anchor="ctr" marL="91440" marR="54864" marT="27432" marB="27432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部署形态</a:t>
                      </a:r>
                    </a:p>
                  </a:txBody>
                  <a:tcPr anchor="ctr" marL="91440" marR="54864" marT="27432" marB="27432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数据出域</a:t>
                      </a:r>
                    </a:p>
                  </a:txBody>
                  <a:tcPr anchor="ctr" marL="91440" marR="54864" marT="27432" marB="27432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工具调用</a:t>
                      </a:r>
                    </a:p>
                  </a:txBody>
                  <a:tcPr anchor="ctr" marL="91440" marR="54864" marT="27432" marB="27432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适用场景</a:t>
                      </a:r>
                    </a:p>
                  </a:txBody>
                  <a:tcPr anchor="ctr" marL="91440" marR="54864" marT="27432" marB="27432">
                    <a:solidFill>
                      <a:srgbClr val="3B82F6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本地推理（规则）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EF7"/>
                          </a:solidFill>
                          <a:latin typeface="Microsoft YaHei"/>
                        </a:rPr>
                        <a:t>纯前端，零依赖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EF7"/>
                          </a:solidFill>
                          <a:latin typeface="Microsoft YaHei"/>
                        </a:rPr>
                        <a:t>不出域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9D55"/>
                          </a:solidFill>
                          <a:latin typeface="Microsoft YaHei"/>
                        </a:rPr>
                        <a:t>✓ 支持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EF7"/>
                          </a:solidFill>
                          <a:latin typeface="Microsoft YaHei"/>
                        </a:rPr>
                        <a:t>零配置 Demo / 在线兜底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本地大模型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EF7"/>
                          </a:solidFill>
                          <a:latin typeface="Microsoft YaHei"/>
                        </a:rPr>
                        <a:t>Ollama/vLLM/LM Studio/llama.cpp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EF7"/>
                          </a:solidFill>
                          <a:latin typeface="Microsoft YaHei"/>
                        </a:rPr>
                        <a:t>内网不出域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9D55"/>
                          </a:solidFill>
                          <a:latin typeface="Microsoft YaHei"/>
                        </a:rPr>
                        <a:t>✓ 原生或动作块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EF7"/>
                          </a:solidFill>
                          <a:latin typeface="Microsoft YaHei"/>
                        </a:rPr>
                        <a:t>私有化 · 合规 · 离线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Claude 在线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EF7"/>
                          </a:solidFill>
                          <a:latin typeface="Microsoft YaHei"/>
                        </a:rPr>
                        <a:t>后端代理 claude-opus-4-8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EF7"/>
                          </a:solidFill>
                          <a:latin typeface="Microsoft YaHei"/>
                        </a:rPr>
                        <a:t>出域（密钥仅后端）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9D55"/>
                          </a:solidFill>
                          <a:latin typeface="Microsoft YaHei"/>
                        </a:rPr>
                        <a:t>✓ 原生 tools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EF7"/>
                          </a:solidFill>
                          <a:latin typeface="Microsoft YaHei"/>
                        </a:rPr>
                        <a:t>能力最强 · 复杂分析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389120"/>
            <a:ext cx="10908792" cy="1371600"/>
          </a:xfrm>
          <a:prstGeom prst="roundRect">
            <a:avLst>
              <a:gd name="adj" fmla="val 4000"/>
            </a:avLst>
          </a:prstGeom>
          <a:solidFill>
            <a:srgbClr val="0F1828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98848"/>
            <a:ext cx="10424160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关键点：</a:t>
            </a:r>
            <a:r>
              <a:rPr sz="1300" b="0">
                <a:solidFill>
                  <a:srgbClr val="E6EEF7"/>
                </a:solidFill>
                <a:latin typeface="Microsoft YaHei"/>
              </a:rPr>
              <a:t>三来源统一返回 {text, toolCalls, followups}，对 UI 透明；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3C8"/>
                </a:solidFill>
                <a:latin typeface="Microsoft YaHei"/>
              </a:rPr>
              <a:t>• 数据敏感/内网场景 → 本地大模型，全程不出域；  • 需最强分析 → Claude；  • 演示/兜底 → 本地推理。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3C8"/>
                </a:solidFill>
                <a:latin typeface="Microsoft YaHei"/>
              </a:rPr>
              <a:t>• 在线来源失败自动回退本地推理，可用性有保障。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04  技术架构（二）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前端智能体 + 后端代理（密钥仅在后端）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515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◧ 一键一生 × AI 伴读助手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1005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09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589520" cy="4114800"/>
          </a:xfrm>
          <a:prstGeom prst="roundRect">
            <a:avLst>
              <a:gd name="adj" fmla="val 3000"/>
            </a:avLst>
          </a:prstGeom>
          <a:solidFill>
            <a:srgbClr val="0F182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B3C8"/>
                </a:solidFill>
                <a:latin typeface="Microsoft YaHei"/>
              </a:rPr>
              <a:t>浏览器（单页应用，前端零密钥可跑）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148840"/>
            <a:ext cx="2286000" cy="73152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148840"/>
            <a:ext cx="2139696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左 · 配置向导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148840"/>
            <a:ext cx="2468880" cy="73152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2148840"/>
            <a:ext cx="2322576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中 · 结果呈现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14884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71032" y="2148840"/>
            <a:ext cx="2002536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右 · AI 助手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063240"/>
            <a:ext cx="7178040" cy="1371600"/>
          </a:xfrm>
          <a:prstGeom prst="roundRect">
            <a:avLst>
              <a:gd name="adj" fmla="val 4000"/>
            </a:avLst>
          </a:prstGeom>
          <a:solidFill>
            <a:srgbClr val="142238"/>
          </a:solidFill>
          <a:ln w="12700">
            <a:solidFill>
              <a:srgbClr val="F0A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27248"/>
            <a:ext cx="6858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0A020"/>
                </a:solidFill>
                <a:latin typeface="Microsoft YaHei"/>
              </a:rPr>
              <a:t>Agent 引擎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520440"/>
            <a:ext cx="1645920" cy="77724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520440"/>
            <a:ext cx="1499616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ContextCollector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15768" y="3520440"/>
            <a:ext cx="1645920" cy="77724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3520440"/>
            <a:ext cx="1499616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AgentTools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71416" y="3520440"/>
            <a:ext cx="1645920" cy="77724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520440"/>
            <a:ext cx="1499616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HabitProfile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3520440"/>
            <a:ext cx="1645920" cy="77724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3520440"/>
            <a:ext cx="1499616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LLMClient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61772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4617720"/>
            <a:ext cx="3328415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localStorage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习惯画像持久化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461772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4617720"/>
            <a:ext cx="3328415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DOM 状态 ↔ 工具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读页面 / 改页面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275320" y="3108960"/>
            <a:ext cx="640080" cy="365760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2697480"/>
            <a:ext cx="1463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/api/chat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40" y="1691640"/>
            <a:ext cx="2560320" cy="4114800"/>
          </a:xfrm>
          <a:prstGeom prst="roundRect">
            <a:avLst>
              <a:gd name="adj" fmla="val 4000"/>
            </a:avLst>
          </a:prstGeom>
          <a:solidFill>
            <a:srgbClr val="142238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1783080"/>
            <a:ext cx="2286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Node 后端代理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228600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2872" y="2286000"/>
            <a:ext cx="2048255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静态托管 web/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310896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F0A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62872" y="3108960"/>
            <a:ext cx="2048255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Provider 路由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注入领域提示+上下文+工具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20" y="411480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62872" y="4114800"/>
            <a:ext cx="2048255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Claude API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claude-opus-4-8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20" y="493776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62872" y="4937760"/>
            <a:ext cx="2048255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本地大模型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OpenAI 兼容端点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要点：前端默认本地推理即可运行；密钥/端点仅在后端；上下文只传必要派生摘要，避免敏感原始数据外泄。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05  集成方式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低侵入接入现有「一键一生」框架（3 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515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◧ 一键一生 × AI 伴读助手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1005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47088"/>
            <a:ext cx="64008" cy="2066543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883664"/>
            <a:ext cx="3163824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① 嵌入右侧栏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新增一个 aside + 一组脚本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不改现有提交/渲染逻辑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可灰度：开关控制显隐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33087" y="2697480"/>
            <a:ext cx="292608" cy="365760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73736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47088"/>
            <a:ext cx="64008" cy="2066543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883664"/>
            <a:ext cx="3163824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② 适配上下文契约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ContextCollector 读现有 DOM/状态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字段映射到统一快照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AI 即可"看懂"你的页面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36408" y="2697480"/>
            <a:ext cx="292608" cy="365760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19" y="173736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847088"/>
            <a:ext cx="64008" cy="2066543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883664"/>
            <a:ext cx="3163824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③ 注册页面工具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把现有"设置/提交"动作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包装为白名单工具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AI 即可"动手"操作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08792" cy="1600200"/>
          </a:xfrm>
          <a:prstGeom prst="roundRect">
            <a:avLst>
              <a:gd name="adj" fmla="val 3000"/>
            </a:avLst>
          </a:prstGeom>
          <a:solidFill>
            <a:srgbClr val="0F1828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89120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9D55"/>
                </a:solidFill>
                <a:latin typeface="Microsoft YaHei"/>
              </a:rPr>
              <a:t>数据契约（替换合成数据即接真实数据）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8006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800600"/>
            <a:ext cx="2962656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真实 MES/YMS/EDA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晶圆一生数据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069080" y="5120640"/>
            <a:ext cx="457200" cy="310896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17720" y="48006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F0A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4800600"/>
            <a:ext cx="2962656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generateLifecycle() 契约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meta/summary/waferMap/…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18120" y="5120640"/>
            <a:ext cx="457200" cy="310896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66760" y="48006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2" y="4800600"/>
            <a:ext cx="2962656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可视化 + AI 复用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无需改动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06  兼容场景（一）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一套方案，覆盖多种部署/用户/任务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515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◧ 一键一生 × AI 伴读助手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1005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11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28800"/>
          <a:ext cx="1090879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907792"/>
                <a:gridCol w="2907792"/>
                <a:gridCol w="2898648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维度 \ 场景</a:t>
                      </a:r>
                    </a:p>
                  </a:txBody>
                  <a:tcPr anchor="ctr" marL="91440" marR="54864" marT="27432" marB="27432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场景 A</a:t>
                      </a:r>
                    </a:p>
                  </a:txBody>
                  <a:tcPr anchor="ctr" marL="91440" marR="54864" marT="27432" marB="27432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场景 B</a:t>
                      </a:r>
                    </a:p>
                  </a:txBody>
                  <a:tcPr anchor="ctr" marL="91440" marR="54864" marT="27432" marB="27432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场景 C</a:t>
                      </a:r>
                    </a:p>
                  </a:txBody>
                  <a:tcPr anchor="ctr" marL="91440" marR="54864" marT="27432" marB="27432">
                    <a:solidFill>
                      <a:srgbClr val="3B8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部署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6EEF7"/>
                          </a:solidFill>
                          <a:latin typeface="Microsoft YaHei"/>
                        </a:rPr>
                        <a:t>公有云（Claude）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6EEF7"/>
                          </a:solidFill>
                          <a:latin typeface="Microsoft YaHei"/>
                        </a:rPr>
                        <a:t>私有化内网（本地大模型）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6EEF7"/>
                          </a:solidFill>
                          <a:latin typeface="Microsoft YaHei"/>
                        </a:rPr>
                        <a:t>完全离线（本地推理）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用户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6EEF7"/>
                          </a:solidFill>
                          <a:latin typeface="Microsoft YaHei"/>
                        </a:rPr>
                        <a:t>新手：引导式填表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6EEF7"/>
                          </a:solidFill>
                          <a:latin typeface="Microsoft YaHei"/>
                        </a:rPr>
                        <a:t>资深：秒级根因提效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6EEF7"/>
                          </a:solidFill>
                          <a:latin typeface="Microsoft YaHei"/>
                        </a:rPr>
                        <a:t>混合：习惯自适应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分析任务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6EEF7"/>
                          </a:solidFill>
                          <a:latin typeface="Microsoft YaHei"/>
                        </a:rPr>
                        <a:t>单片晶圆追溯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6EEF7"/>
                          </a:solidFill>
                          <a:latin typeface="Microsoft YaHei"/>
                        </a:rPr>
                        <a:t>批次 excursion 排查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6EEF7"/>
                          </a:solidFill>
                          <a:latin typeface="Microsoft YaHei"/>
                        </a:rPr>
                        <a:t>设备 commonality / 参数漂移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数据合规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6EEF7"/>
                          </a:solidFill>
                          <a:latin typeface="Microsoft YaHei"/>
                        </a:rPr>
                        <a:t>出域可控（密钥后端）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9D55"/>
                          </a:solidFill>
                          <a:latin typeface="Microsoft YaHei"/>
                        </a:rPr>
                        <a:t>✓ 全程不出内网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9D55"/>
                          </a:solidFill>
                          <a:latin typeface="Microsoft YaHei"/>
                        </a:rPr>
                        <a:t>✓ 无网络依赖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可用性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6EEF7"/>
                          </a:solidFill>
                          <a:latin typeface="Microsoft YaHei"/>
                        </a:rPr>
                        <a:t>在线最强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6EEF7"/>
                          </a:solidFill>
                          <a:latin typeface="Microsoft YaHei"/>
                        </a:rPr>
                        <a:t>在线 + 自动兜底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9D55"/>
                          </a:solidFill>
                          <a:latin typeface="Microsoft YaHei"/>
                        </a:rPr>
                        <a:t>✓ 始终可用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FB3C8"/>
                </a:solidFill>
                <a:latin typeface="Microsoft YaHei"/>
              </a:rPr>
              <a:t>结论：从"零网络离线"到"公有云最强模型"全谱兼容；新手与资深、单片与批次、设备与参数维度均可承载。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06  兼容场景（二）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集成前 vs 集成后：价值一目了然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515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◧ 一键一生 × AI 伴读助手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1005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12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28800"/>
          <a:ext cx="10908792" cy="3749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4206240"/>
                <a:gridCol w="4599432"/>
              </a:tblGrid>
              <a:tr h="535577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环节</a:t>
                      </a:r>
                    </a:p>
                  </a:txBody>
                  <a:tcPr anchor="ctr" marL="91440" marR="54864" marT="27432" marB="27432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集成前</a:t>
                      </a:r>
                    </a:p>
                  </a:txBody>
                  <a:tcPr anchor="ctr" marL="91440" marR="54864" marT="27432" marB="27432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集成后（嵌入 AI 助手）</a:t>
                      </a:r>
                    </a:p>
                  </a:txBody>
                  <a:tcPr anchor="ctr" marL="91440" marR="54864" marT="27432" marB="27432">
                    <a:solidFill>
                      <a:srgbClr val="3B82F6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任务提交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EF7"/>
                          </a:solidFill>
                          <a:latin typeface="Microsoft YaHei"/>
                        </a:rPr>
                        <a:t>必填项易漏/错填，返工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9D55"/>
                          </a:solidFill>
                          <a:latin typeface="Microsoft YaHei"/>
                        </a:rPr>
                        <a:t>✓ 实时校验 + 一键修正再提交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结果解读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EF7"/>
                          </a:solidFill>
                          <a:latin typeface="Microsoft YaHei"/>
                        </a:rPr>
                        <a:t>靠人工经验逐图判读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9D55"/>
                          </a:solidFill>
                          <a:latin typeface="Microsoft YaHei"/>
                        </a:rPr>
                        <a:t>✓ AI 伴读，逐面板讲解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根因定位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EF7"/>
                          </a:solidFill>
                          <a:latin typeface="Microsoft YaHei"/>
                        </a:rPr>
                        <a:t>依赖资深工程师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9D55"/>
                          </a:solidFill>
                          <a:latin typeface="Microsoft YaHei"/>
                        </a:rPr>
                        <a:t>✓ 候选 + 置信度，秒级给出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经验沉淀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EF7"/>
                          </a:solidFill>
                          <a:latin typeface="Microsoft YaHei"/>
                        </a:rPr>
                        <a:t>存于个人脑中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9D55"/>
                          </a:solidFill>
                          <a:latin typeface="Microsoft YaHei"/>
                        </a:rPr>
                        <a:t>✓ 习惯画像，可复用/可成长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上手时间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EF7"/>
                          </a:solidFill>
                          <a:latin typeface="Microsoft YaHei"/>
                        </a:rPr>
                        <a:t>长，培训成本高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9D55"/>
                          </a:solidFill>
                          <a:latin typeface="Microsoft YaHei"/>
                        </a:rPr>
                        <a:t>✓ 显著缩短，新手即用</a:t>
                      </a:r>
                    </a:p>
                  </a:txBody>
                  <a:tcPr anchor="ctr" marL="91440" marR="54864" marT="27432" marB="27432">
                    <a:solidFill>
                      <a:srgbClr val="142238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数据合规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6EEF7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9D55"/>
                          </a:solidFill>
                          <a:latin typeface="Microsoft YaHei"/>
                        </a:rPr>
                        <a:t>✓ 私有化 / 离线可选</a:t>
                      </a:r>
                    </a:p>
                  </a:txBody>
                  <a:tcPr anchor="ctr" marL="91440" marR="54864" marT="27432" marB="27432">
                    <a:solidFill>
                      <a:srgbClr val="0F182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9D55"/>
                </a:solidFill>
                <a:latin typeface="Microsoft YaHei"/>
              </a:rPr>
              <a:t>提交正确率 ↑   ·   解读门槛 ↓   ·   根因定位提速   ·   经验资产化   ·   合规可控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07  路线图与风险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低风险灰度落地，分阶段交付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5156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◧ 一键一生 × AI 伴读助手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1005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13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26060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P0 · 1–2 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31720"/>
            <a:ext cx="2606040" cy="178308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41448"/>
            <a:ext cx="64008" cy="156362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478024"/>
            <a:ext cx="2295144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嵌入右侧栏 + 本地推理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对接数据契约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零风险灰度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64408" y="1874519"/>
            <a:ext cx="274320" cy="274320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178308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83080"/>
            <a:ext cx="26060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P1 · 2–4 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331720"/>
            <a:ext cx="2606040" cy="178308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2441448"/>
            <a:ext cx="64008" cy="156362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2478024"/>
            <a:ext cx="2295144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接本地大模型 / Claude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工具适配现有动作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试点产品线验证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53328" y="1874519"/>
            <a:ext cx="274320" cy="274320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78308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0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783080"/>
            <a:ext cx="26060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P2 · 进阶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331720"/>
            <a:ext cx="2606040" cy="178308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441448"/>
            <a:ext cx="64008" cy="1563624"/>
          </a:xfrm>
          <a:prstGeom prst="rect">
            <a:avLst/>
          </a:prstGeom>
          <a:solidFill>
            <a:srgbClr val="F0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478024"/>
            <a:ext cx="2295144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流式逐字输出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跨会话记忆(Memory)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体验升级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42248" y="1874519"/>
            <a:ext cx="274320" cy="274320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06839" y="178308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39" y="1783080"/>
            <a:ext cx="26060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P3 · 增强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39" y="2331720"/>
            <a:ext cx="2606040" cy="178308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06839" y="2441448"/>
            <a:ext cx="64008" cy="156362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8007" y="2478024"/>
            <a:ext cx="2295144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RAG：SOP/历史 FA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采纳信号在线学习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•  越用越准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434840"/>
            <a:ext cx="10908792" cy="1463040"/>
          </a:xfrm>
          <a:prstGeom prst="roundRect">
            <a:avLst>
              <a:gd name="adj" fmla="val 3000"/>
            </a:avLst>
          </a:prstGeom>
          <a:solidFill>
            <a:srgbClr val="0F1828"/>
          </a:solidFill>
          <a:ln w="12700">
            <a:solidFill>
              <a:srgbClr val="E05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533D"/>
                </a:solidFill>
                <a:latin typeface="Microsoft YaHei"/>
              </a:rPr>
              <a:t>风险与对策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937760"/>
            <a:ext cx="3429000" cy="82296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F0A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4937760"/>
            <a:ext cx="3282696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数据安全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私有化/离线部署，全程不出内网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53128" y="4937760"/>
            <a:ext cx="3429000" cy="82296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F0A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4937760"/>
            <a:ext cx="3282696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模型幻觉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基于页面上下文作答+不编造+工具白名单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37575" y="4937760"/>
            <a:ext cx="3429000" cy="82296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5875">
            <a:solidFill>
              <a:srgbClr val="F0A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10727" y="4937760"/>
            <a:ext cx="3282696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侵入风险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3C8"/>
                </a:solidFill>
                <a:latin typeface="Microsoft YaHei"/>
              </a:rPr>
              <a:t>低耦合嵌入，开关灰度，可随时回退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3657600"/>
            <a:ext cx="4023360" cy="4023360"/>
          </a:xfrm>
          <a:prstGeom prst="ellipse">
            <a:avLst/>
          </a:prstGeom>
          <a:solidFill>
            <a:srgbClr val="0F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行动号召 · CALL TO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424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低风险 · 可私有化 · 即插即用 · 可成长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6EEF7"/>
                </a:solidFill>
                <a:latin typeface="Microsoft YaHei"/>
              </a:rPr>
              <a:t>建议将 AI 伴读助手作为「一键一生」的标准能力集成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83280"/>
            <a:ext cx="5120640" cy="246888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493008"/>
            <a:ext cx="64008" cy="224942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529584"/>
            <a:ext cx="4809744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✅ 我们请求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Microsoft YaHei"/>
              </a:rPr>
              <a:t>•  批准 P0 灰度接入（约 2 周）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Microsoft YaHei"/>
              </a:rPr>
              <a:t>•  指定 1 个试点产品线 / 页面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Microsoft YaHei"/>
              </a:rPr>
              <a:t>•  明确数据合规边界（私有化/离线）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Microsoft YaHei"/>
              </a:rPr>
              <a:t>•  指派 1 名前端 + 1 名数据对接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83280"/>
            <a:ext cx="5120640" cy="246888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 w="12700">
            <a:solidFill>
              <a:srgbClr val="24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493008"/>
            <a:ext cx="64008" cy="224942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529584"/>
            <a:ext cx="4809744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🎁 你将获得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0A020"/>
                </a:solidFill>
                <a:latin typeface="Microsoft YaHei"/>
              </a:rPr>
              <a:t>•  提交正确率与解读效率提升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0A020"/>
                </a:solidFill>
                <a:latin typeface="Microsoft YaHei"/>
              </a:rPr>
              <a:t>•  根因定位提速、经验资产化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0A020"/>
                </a:solidFill>
                <a:latin typeface="Microsoft YaHei"/>
              </a:rPr>
              <a:t>•  已可运行的 Demo（本地零配置）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0A020"/>
                </a:solidFill>
                <a:latin typeface="Microsoft YaHei"/>
              </a:rPr>
              <a:t>•  完整源码 + 调研设计 + 部署文档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Microsoft YaHei"/>
              </a:rPr>
              <a:t>Demo 与文档：仓库 web/（一键运行）· docs/（调研与设计、部署与Demo）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