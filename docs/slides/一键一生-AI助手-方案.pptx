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20" y="-1463040"/>
            <a:ext cx="4114800" cy="4114800"/>
          </a:xfrm>
          <a:prstGeom prst="ellipse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4023360"/>
            <a:ext cx="3291840" cy="3291840"/>
          </a:xfrm>
          <a:prstGeom prst="ellipse">
            <a:avLst/>
          </a:prstGeom>
          <a:solidFill>
            <a:srgbClr val="0F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B82F6"/>
                </a:solidFill>
                <a:latin typeface="Microsoft YaHei"/>
              </a:rPr>
              <a:t>方案提案 ·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一键一生 </a:t>
            </a:r>
            <a:r>
              <a:rPr sz="4600" b="1">
                <a:solidFill>
                  <a:srgbClr val="3B82F6"/>
                </a:solidFill>
                <a:latin typeface="Microsoft YaHei"/>
              </a:rPr>
              <a:t>× </a:t>
            </a:r>
            <a:r>
              <a:rPr sz="4600" b="1">
                <a:solidFill>
                  <a:srgbClr val="3B82F6"/>
                </a:solidFill>
                <a:latin typeface="Microsoft YaHei"/>
              </a:rPr>
              <a:t>AI 伴读助手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E6EEF7"/>
                </a:solidFill>
                <a:latin typeface="Microsoft YaHei"/>
              </a:rPr>
              <a:t>让晶圆良率根因分析  会读 · 会想 · 会动手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0424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FB3C8"/>
                </a:solidFill>
                <a:latin typeface="Microsoft YaHei"/>
              </a:rPr>
              <a:t>面向半导体 Wafer 全生命周期根因分析的智能体方案 —— 低侵入嵌入现有「一键一生」框架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1481328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B82F6"/>
                </a:solidFill>
                <a:latin typeface="Microsoft YaHei"/>
              </a:rPr>
              <a:t>👁 伴读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50592" y="47548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4754880"/>
            <a:ext cx="1481328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9D55"/>
                </a:solidFill>
                <a:latin typeface="Microsoft YaHei"/>
              </a:rPr>
              <a:t>🔍 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47548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78224" y="4754880"/>
            <a:ext cx="1481328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0A020"/>
                </a:solidFill>
                <a:latin typeface="Microsoft YaHei"/>
              </a:rPr>
              <a:t>💡 建议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05856" y="47548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4754880"/>
            <a:ext cx="1481328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B2FF7"/>
                </a:solidFill>
                <a:latin typeface="Microsoft YaHei"/>
              </a:rPr>
              <a:t>🤖 会动手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7548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4754880"/>
            <a:ext cx="1481328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B82F6"/>
                </a:solidFill>
                <a:latin typeface="Microsoft YaHei"/>
              </a:rPr>
              <a:t>🧠 学习习惯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低风险 · 可私有化 · 即插即用 · 可成长 —— 内附可运行 Demo 实拍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一键一生很强，但"用好它"有门槛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02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17904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FB3C8"/>
                </a:solidFill>
                <a:latin typeface="Microsoft YaHei"/>
              </a:rPr>
              <a:t>页面选项丰富、能一键还原晶圆全链路；但配置链路长、结果信息密度大，"会用、用对、读懂"高度依赖经验。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2606040" cy="178308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12848"/>
            <a:ext cx="64008" cy="1563624"/>
          </a:xfrm>
          <a:prstGeom prst="rect">
            <a:avLst/>
          </a:prstGeom>
          <a:solidFill>
            <a:srgbClr val="E05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231136"/>
            <a:ext cx="2295144" cy="1527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⚠ 配置门槛高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选项多、必填项易漏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新手易错填，返工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103120"/>
            <a:ext cx="2606040" cy="178308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212848"/>
            <a:ext cx="64008" cy="1563624"/>
          </a:xfrm>
          <a:prstGeom prst="rect">
            <a:avLst/>
          </a:prstGeom>
          <a:solidFill>
            <a:srgbClr val="F0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0168" y="2231136"/>
            <a:ext cx="2295144" cy="1527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📉 结果难解读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多图并列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判读依赖资深工程师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78308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212848"/>
            <a:ext cx="64008" cy="1563624"/>
          </a:xfrm>
          <a:prstGeom prst="rect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231136"/>
            <a:ext cx="2295144" cy="1527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🧓 经验依赖强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根因靠"老师傅"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知识难标准化沉淀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39" y="2103120"/>
            <a:ext cx="2606040" cy="178308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39" y="2212848"/>
            <a:ext cx="64008" cy="156362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7" y="2231136"/>
            <a:ext cx="2295144" cy="1527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🔁 操作重复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常用配置反复手填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习惯无法被记住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06240"/>
            <a:ext cx="10908792" cy="1691640"/>
          </a:xfrm>
          <a:prstGeom prst="roundRect">
            <a:avLst>
              <a:gd name="adj" fmla="val 4000"/>
            </a:avLst>
          </a:prstGeom>
          <a:solidFill>
            <a:srgbClr val="0F182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343400"/>
            <a:ext cx="10424160" cy="1463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F9D55"/>
                </a:solidFill>
                <a:latin typeface="Microsoft YaHei"/>
              </a:rPr>
              <a:t>机会 → 在页面右侧嵌入 AI 助手，恰好补齐这四块短板：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Microsoft YaHei"/>
              </a:rPr>
              <a:t>伴读</a:t>
            </a:r>
            <a:r>
              <a:rPr sz="1300" b="0">
                <a:solidFill>
                  <a:srgbClr val="9FB3C8"/>
                </a:solidFill>
                <a:latin typeface="Microsoft YaHei"/>
              </a:rPr>
              <a:t> 降低解读门槛   ·   </a:t>
            </a:r>
            <a:r>
              <a:rPr sz="1300" b="1">
                <a:solidFill>
                  <a:srgbClr val="3B82F6"/>
                </a:solidFill>
                <a:latin typeface="Microsoft YaHei"/>
              </a:rPr>
              <a:t>建议</a:t>
            </a:r>
            <a:r>
              <a:rPr sz="1300" b="0">
                <a:solidFill>
                  <a:srgbClr val="9FB3C8"/>
                </a:solidFill>
                <a:latin typeface="Microsoft YaHei"/>
              </a:rPr>
              <a:t> 保证正确提交   ·   </a:t>
            </a:r>
            <a:r>
              <a:rPr sz="1300" b="1">
                <a:solidFill>
                  <a:srgbClr val="3B82F6"/>
                </a:solidFill>
                <a:latin typeface="Microsoft YaHei"/>
              </a:rPr>
              <a:t>分析</a:t>
            </a:r>
            <a:r>
              <a:rPr sz="1300" b="0">
                <a:solidFill>
                  <a:srgbClr val="9FB3C8"/>
                </a:solidFill>
                <a:latin typeface="Microsoft YaHei"/>
              </a:rPr>
              <a:t> 沉淀专家经验   ·   </a:t>
            </a:r>
            <a:r>
              <a:rPr sz="1300" b="1">
                <a:solidFill>
                  <a:srgbClr val="3B82F6"/>
                </a:solidFill>
                <a:latin typeface="Microsoft YaHei"/>
              </a:rPr>
              <a:t>智能体</a:t>
            </a:r>
            <a:r>
              <a:rPr sz="1300" b="0">
                <a:solidFill>
                  <a:srgbClr val="9FB3C8"/>
                </a:solidFill>
                <a:latin typeface="Microsoft YaHei"/>
              </a:rPr>
              <a:t> 减少重复并持续学习习惯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02  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一张图看懂：低侵入嵌入页面右侧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03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383280" cy="219456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1645920"/>
            <a:ext cx="3236976" cy="21945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左 · 配置区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逐步向导
①场景 ②维度 ③呈现 ④提交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931920" cy="219456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1645920"/>
            <a:ext cx="3785615" cy="21945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中 · 结果呈现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晶圆Bin图 · 良率/WAT趋势
缺陷Pareto · 工艺时间轴 · 根因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645920"/>
            <a:ext cx="3017520" cy="219456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7B2F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1645920"/>
            <a:ext cx="2871215" cy="21945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右 · AI 助手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伴读 / 分析 / 建议
对话 + 习惯画像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42816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A020"/>
                </a:solidFill>
                <a:latin typeface="Microsoft YaHei"/>
              </a:rPr>
              <a:t>Agent 引擎（纯前端，可嵌入任意页面）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645152"/>
            <a:ext cx="2468880" cy="749808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645152"/>
            <a:ext cx="2322576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上下文采集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读页面状态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4645152"/>
            <a:ext cx="2468880" cy="749808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645152"/>
            <a:ext cx="2322576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工具调用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真正改页面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645152"/>
            <a:ext cx="2468880" cy="749808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7B2F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4645152"/>
            <a:ext cx="2322576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习惯学习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沉淀画像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78824" y="4645152"/>
            <a:ext cx="2468880" cy="749808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F0A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4645152"/>
            <a:ext cx="2322576" cy="7498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三来源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规则/本地/Claude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嵌入方式：新增一个右侧 aside + 一组脚本，</a:t>
            </a:r>
            <a:r>
              <a:rPr sz="1200" b="1">
                <a:solidFill>
                  <a:srgbClr val="1F9D55"/>
                </a:solidFill>
                <a:latin typeface="Microsoft YaHei"/>
              </a:rPr>
              <a:t>不改动现有页面的提交与渲染逻辑</a:t>
            </a:r>
            <a:r>
              <a:rPr sz="1200" b="0">
                <a:solidFill>
                  <a:srgbClr val="9FB3C8"/>
                </a:solidFill>
                <a:latin typeface="Microsoft YaHei"/>
              </a:rPr>
              <a:t>；AI 读取现有 DOM/状态作为上下文。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03  核心能力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伴读 · 分析 · 建议 + 会动手 + 学习习惯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04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474720" cy="1874519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31089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👁 伴读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31089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•  读懂页面与各面板含义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•  提交后自动伴读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45920"/>
            <a:ext cx="3474720" cy="1874519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83080"/>
            <a:ext cx="31089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🔍 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40280"/>
            <a:ext cx="31089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•  commonality 根因打分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•  候选 + 置信度排序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45920"/>
            <a:ext cx="3474720" cy="1874519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5875">
            <a:solidFill>
              <a:srgbClr val="F0A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783080"/>
            <a:ext cx="31089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💡 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240280"/>
            <a:ext cx="31089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•  校验填表→一键修正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•  处置/下一步建议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5349240" cy="1874519"/>
          </a:xfrm>
          <a:prstGeom prst="roundRect">
            <a:avLst>
              <a:gd name="adj" fmla="val 4000"/>
            </a:avLst>
          </a:prstGeom>
          <a:solidFill>
            <a:srgbClr val="0F1828"/>
          </a:solidFill>
          <a:ln w="12700">
            <a:solidFill>
              <a:srgbClr val="7B2F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77639"/>
            <a:ext cx="4937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B2FF7"/>
                </a:solidFill>
                <a:latin typeface="Microsoft YaHei"/>
              </a:rPr>
              <a:t>🤖 智能体：会动手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通过工具调用真正操作页面：填表 / 设维度 / 提交 / 定位高亮面板。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74920"/>
            <a:ext cx="4937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Microsoft YaHei"/>
              </a:rPr>
              <a:t>不只是聊天框 —— 是能动手的智能体。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840480"/>
            <a:ext cx="5349240" cy="1874519"/>
          </a:xfrm>
          <a:prstGeom prst="roundRect">
            <a:avLst>
              <a:gd name="adj" fmla="val 4000"/>
            </a:avLst>
          </a:prstGeom>
          <a:solidFill>
            <a:srgbClr val="0F1828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77639"/>
            <a:ext cx="4937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Microsoft YaHei"/>
              </a:rPr>
              <a:t>🧠 智能体：学习习惯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434840"/>
            <a:ext cx="49377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6EEF7"/>
                </a:solidFill>
                <a:latin typeface="Microsoft YaHei"/>
              </a:rPr>
              <a:t>行为埋点 → 习惯画像（常用Fab/节点/维度）→ 个性化默认值与建议。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074920"/>
            <a:ext cx="4937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Microsoft YaHei"/>
              </a:rPr>
              <a:t>越用越懂你，新手→资深经验沉淀。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04  Demo 实拍（一）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配置阶段：左侧逐步向导 + AI 全程伴读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05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591056"/>
            <a:ext cx="7772400" cy="4864608"/>
          </a:xfrm>
          <a:prstGeom prst="roundRect">
            <a:avLst>
              <a:gd name="adj" fmla="val 2000"/>
            </a:avLst>
          </a:prstGeom>
          <a:solidFill>
            <a:srgbClr val="0F182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7315200" cy="4646141"/>
          </a:xfrm>
          <a:prstGeom prst="rect">
            <a:avLst/>
          </a:prstGeom>
          <a:ln w="12700">
            <a:solidFill>
              <a:srgbClr val="243A5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95360" y="148132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0A020"/>
                </a:solidFill>
                <a:latin typeface="Microsoft YaHei"/>
              </a:rPr>
              <a:t>看点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78308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95360" y="1874519"/>
            <a:ext cx="54864" cy="859536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59952" y="178308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逐步向导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①场景→②维度→③呈现→④提交，分步校验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97180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3063240"/>
            <a:ext cx="54864" cy="859536"/>
          </a:xfrm>
          <a:prstGeom prst="rect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297180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左配置 / 右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左侧专用配置，右侧助手伴读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416052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95360" y="4251959"/>
            <a:ext cx="54864" cy="859536"/>
          </a:xfrm>
          <a:prstGeom prst="rect">
            <a:avLst/>
          </a:prstGeom>
          <a:solidFill>
            <a:srgbClr val="F0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9952" y="416052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AI 指引提交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未就绪时一键修正必填项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534924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5440679"/>
            <a:ext cx="54864" cy="85953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534924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零密钥可跑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默认本地推理，开箱即用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04  Demo 实拍（二）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一键还原全链路 + AI 根因分析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591056"/>
            <a:ext cx="7772400" cy="4864608"/>
          </a:xfrm>
          <a:prstGeom prst="roundRect">
            <a:avLst>
              <a:gd name="adj" fmla="val 2000"/>
            </a:avLst>
          </a:prstGeom>
          <a:solidFill>
            <a:srgbClr val="0F182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-ai-analy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7315200" cy="4646141"/>
          </a:xfrm>
          <a:prstGeom prst="rect">
            <a:avLst/>
          </a:prstGeom>
          <a:ln w="12700">
            <a:solidFill>
              <a:srgbClr val="243A5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95360" y="148132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0A020"/>
                </a:solidFill>
                <a:latin typeface="Microsoft YaHei"/>
              </a:rPr>
              <a:t>看点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78308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95360" y="1874519"/>
            <a:ext cx="54864" cy="85953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59952" y="178308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全链路呈现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晶圆图/良率/WAT/缺陷/工艺/根因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97180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3063240"/>
            <a:ext cx="54864" cy="859536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297180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根因候选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commonality 打分：CMP-02 · 86%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416052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95360" y="4251959"/>
            <a:ext cx="54864" cy="859536"/>
          </a:xfrm>
          <a:prstGeom prst="rect">
            <a:avLst/>
          </a:prstGeom>
          <a:solidFill>
            <a:srgbClr val="F0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9952" y="416052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AI 分析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自动高亮根因面板并给结论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534924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5440679"/>
            <a:ext cx="54864" cy="859536"/>
          </a:xfrm>
          <a:prstGeom prst="rect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534924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结果阶段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配置折叠为摘要，主区专注结果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04  Demo 实拍（三）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三种 AI 来源 · 私有化友好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07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591056"/>
            <a:ext cx="7772400" cy="4864608"/>
          </a:xfrm>
          <a:prstGeom prst="roundRect">
            <a:avLst>
              <a:gd name="adj" fmla="val 2000"/>
            </a:avLst>
          </a:prstGeom>
          <a:solidFill>
            <a:srgbClr val="0F182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-ai-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7315200" cy="4646141"/>
          </a:xfrm>
          <a:prstGeom prst="rect">
            <a:avLst/>
          </a:prstGeom>
          <a:ln w="12700">
            <a:solidFill>
              <a:srgbClr val="243A5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95360" y="148132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0A020"/>
                </a:solidFill>
                <a:latin typeface="Microsoft YaHei"/>
              </a:rPr>
              <a:t>看点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78308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95360" y="1874519"/>
            <a:ext cx="54864" cy="85953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59952" y="178308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一键切换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本地推理 / 本地大模型 / Claude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97180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3063240"/>
            <a:ext cx="54864" cy="859536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297180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本地大模型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Ollama/vLLM/LM Studio，不出内网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416052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95360" y="4251959"/>
            <a:ext cx="54864" cy="859536"/>
          </a:xfrm>
          <a:prstGeom prst="rect">
            <a:avLst/>
          </a:prstGeom>
          <a:solidFill>
            <a:srgbClr val="F0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9952" y="416052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⚙ 即配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前端填 Base URL/模型，连通测试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5349240"/>
            <a:ext cx="3017520" cy="1042415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5440679"/>
            <a:ext cx="54864" cy="859536"/>
          </a:xfrm>
          <a:prstGeom prst="rect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5349240"/>
            <a:ext cx="2779776" cy="104241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统一动手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FB3C8"/>
                </a:solidFill>
                <a:latin typeface="Microsoft YaHei"/>
              </a:rPr>
              <a:t>三来源都能操作页面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05  集成方式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低侵入接入现有框架（3 步）+ 私有化合规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474720" cy="1874519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55648"/>
            <a:ext cx="64008" cy="1655063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163824" cy="161848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① 嵌入右侧栏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新增 aside + 脚本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不改提交/渲染逻辑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开关灰度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7" y="2423160"/>
            <a:ext cx="292608" cy="365760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874519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755648"/>
            <a:ext cx="64008" cy="1655063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773936"/>
            <a:ext cx="3163824" cy="161848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② 适配上下文契约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读现有 DOM/状态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字段映射到快照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AI 看懂页面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36408" y="2423160"/>
            <a:ext cx="292608" cy="365760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19" y="1645920"/>
            <a:ext cx="3474720" cy="1874519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1755648"/>
            <a:ext cx="64008" cy="1655063"/>
          </a:xfrm>
          <a:prstGeom prst="rect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1773936"/>
            <a:ext cx="3163824" cy="161848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③ 注册页面工具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现有动作包装为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白名单工具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AI 能动手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49039"/>
            <a:ext cx="10908792" cy="1371600"/>
          </a:xfrm>
          <a:prstGeom prst="roundRect">
            <a:avLst>
              <a:gd name="adj" fmla="val 3000"/>
            </a:avLst>
          </a:prstGeom>
          <a:solidFill>
            <a:srgbClr val="0F1828"/>
          </a:solidFill>
          <a:ln w="12700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9D55"/>
                </a:solidFill>
                <a:latin typeface="Microsoft YaHei"/>
              </a:rPr>
              <a:t>数据契约：替换合成数据即接真实数据（可视化 + AI 复用，无需改动）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5196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251960"/>
            <a:ext cx="2962656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真实 MES/YMS/EDA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晶圆一生数据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069080" y="4498848"/>
            <a:ext cx="457200" cy="29260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17720" y="425196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F0A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4251960"/>
            <a:ext cx="2962656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generateLifecycle() 契约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meta/summary/waferMap/…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18120" y="4498848"/>
            <a:ext cx="457200" cy="29260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66760" y="4251960"/>
            <a:ext cx="3108960" cy="77724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 w="15875">
            <a:solidFill>
              <a:srgbClr val="1F9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912" y="4251960"/>
            <a:ext cx="2962656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可视化 + AI 复用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无需改动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A020"/>
                </a:solidFill>
                <a:latin typeface="Microsoft YaHei"/>
              </a:rPr>
              <a:t>🔒 私有化/合规：</a:t>
            </a:r>
            <a:r>
              <a:rPr sz="1250" b="0">
                <a:solidFill>
                  <a:srgbClr val="9FB3C8"/>
                </a:solidFill>
                <a:latin typeface="Microsoft YaHei"/>
              </a:rPr>
              <a:t>本地大模型全程不出内网；密钥仅在后端；前端零密钥可跑；上下文只传必要派生摘要。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06  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集成前 vs 集成后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09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91640"/>
          <a:ext cx="10908792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206240"/>
                <a:gridCol w="4599432"/>
              </a:tblGrid>
              <a:tr h="5551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环节</a:t>
                      </a:r>
                    </a:p>
                  </a:txBody>
                  <a:tcPr anchor="ctr" marL="91440" marR="54864" marT="27432" marB="27432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集成前</a:t>
                      </a:r>
                    </a:p>
                  </a:txBody>
                  <a:tcPr anchor="ctr" marL="91440" marR="54864" marT="27432" marB="27432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集成后（嵌入 AI 助手）</a:t>
                      </a:r>
                    </a:p>
                  </a:txBody>
                  <a:tcPr anchor="ctr" marL="91440" marR="54864" marT="27432" marB="27432">
                    <a:solidFill>
                      <a:srgbClr val="3B82F6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任务提交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E6EEF7"/>
                          </a:solidFill>
                          <a:latin typeface="Microsoft YaHei"/>
                        </a:rPr>
                        <a:t>必填易漏/错填，返工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9D55"/>
                          </a:solidFill>
                          <a:latin typeface="Microsoft YaHei"/>
                        </a:rPr>
                        <a:t>✓ 实时校验 + 一键修正再提交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结果解读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E6EEF7"/>
                          </a:solidFill>
                          <a:latin typeface="Microsoft YaHei"/>
                        </a:rPr>
                        <a:t>靠人工经验逐图判读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9D55"/>
                          </a:solidFill>
                          <a:latin typeface="Microsoft YaHei"/>
                        </a:rPr>
                        <a:t>✓ AI 伴读，逐面板讲解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根因定位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E6EEF7"/>
                          </a:solidFill>
                          <a:latin typeface="Microsoft YaHei"/>
                        </a:rPr>
                        <a:t>依赖资深工程师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9D55"/>
                          </a:solidFill>
                          <a:latin typeface="Microsoft YaHei"/>
                        </a:rPr>
                        <a:t>✓ 候选 + 置信度，秒级给出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经验沉淀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E6EEF7"/>
                          </a:solidFill>
                          <a:latin typeface="Microsoft YaHei"/>
                        </a:rPr>
                        <a:t>存于个人脑中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9D55"/>
                          </a:solidFill>
                          <a:latin typeface="Microsoft YaHei"/>
                        </a:rPr>
                        <a:t>✓ 习惯画像，可复用/可成长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上手时间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E6EEF7"/>
                          </a:solidFill>
                          <a:latin typeface="Microsoft YaHei"/>
                        </a:rPr>
                        <a:t>长，培训成本高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9D55"/>
                          </a:solidFill>
                          <a:latin typeface="Microsoft YaHei"/>
                        </a:rPr>
                        <a:t>✓ 显著缩短，新手即用</a:t>
                      </a:r>
                    </a:p>
                  </a:txBody>
                  <a:tcPr anchor="ctr" marL="91440" marR="54864" marT="27432" marB="27432">
                    <a:solidFill>
                      <a:srgbClr val="142238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数据合规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E6EEF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9D55"/>
                          </a:solidFill>
                          <a:latin typeface="Microsoft YaHei"/>
                        </a:rPr>
                        <a:t>✓ 私有化 / 离线可选</a:t>
                      </a:r>
                    </a:p>
                  </a:txBody>
                  <a:tcPr anchor="ctr" marL="91440" marR="54864" marT="27432" marB="27432">
                    <a:solidFill>
                      <a:srgbClr val="0F182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9D55"/>
                </a:solidFill>
                <a:latin typeface="Microsoft YaHei"/>
              </a:rPr>
              <a:t>提交正确率 ↑   ·   解读门槛 ↓   ·   根因提速   ·   经验资产化   ·   合规可控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B82F6"/>
                </a:solidFill>
                <a:latin typeface="Microsoft YaHei"/>
              </a:rPr>
              <a:t>07  路线图与行动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低风险灰度落地 · 我们的请求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1051560" cy="5486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◧ 一键一生 × AI 伴读助手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37376"/>
            <a:ext cx="1005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FB3C8"/>
                </a:solidFill>
                <a:latin typeface="Microsoft YaHei"/>
              </a:rPr>
              <a:t>10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2606040" cy="41148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26060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P0 · 1–2周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606040" cy="137160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58568"/>
            <a:ext cx="64008" cy="115214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276856"/>
            <a:ext cx="229514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嵌入 + 本地推理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对接数据契约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264408" y="1737360"/>
            <a:ext cx="274320" cy="256032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645920"/>
            <a:ext cx="2606040" cy="411480"/>
          </a:xfrm>
          <a:prstGeom prst="roundRect">
            <a:avLst>
              <a:gd name="adj" fmla="val 20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645920"/>
            <a:ext cx="26060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P1 · 2–4周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2148840"/>
            <a:ext cx="2606040" cy="137160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2258568"/>
            <a:ext cx="64008" cy="115214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2276856"/>
            <a:ext cx="229514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接本地大模型/Claude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试点验证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53328" y="1737360"/>
            <a:ext cx="274320" cy="256032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1645920"/>
            <a:ext cx="2606040" cy="411480"/>
          </a:xfrm>
          <a:prstGeom prst="roundRect">
            <a:avLst>
              <a:gd name="adj" fmla="val 20000"/>
            </a:avLst>
          </a:prstGeom>
          <a:solidFill>
            <a:srgbClr val="F0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645920"/>
            <a:ext cx="26060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P2 · 进阶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148840"/>
            <a:ext cx="2606040" cy="137160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258568"/>
            <a:ext cx="64008" cy="1152144"/>
          </a:xfrm>
          <a:prstGeom prst="rect">
            <a:avLst/>
          </a:prstGeom>
          <a:solidFill>
            <a:srgbClr val="F0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2276856"/>
            <a:ext cx="229514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流式输出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跨会话记忆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42248" y="1737360"/>
            <a:ext cx="274320" cy="256032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39" y="1645920"/>
            <a:ext cx="2606040" cy="411480"/>
          </a:xfrm>
          <a:prstGeom prst="roundRect">
            <a:avLst>
              <a:gd name="adj" fmla="val 20000"/>
            </a:avLst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39" y="1645920"/>
            <a:ext cx="26060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</a:rPr>
              <a:t>P3 · 增强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39" y="2148840"/>
            <a:ext cx="2606040" cy="137160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06839" y="2258568"/>
            <a:ext cx="64008" cy="1152144"/>
          </a:xfrm>
          <a:prstGeom prst="rect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8007" y="2276856"/>
            <a:ext cx="229514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RAG: SOP/FA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FB3C8"/>
                </a:solidFill>
                <a:latin typeface="Microsoft YaHei"/>
              </a:rPr>
              <a:t>•  采纳信号学习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886200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3995928"/>
            <a:ext cx="64008" cy="174650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4014215"/>
            <a:ext cx="5038344" cy="1709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✅ 我们的请求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F9D55"/>
                </a:solidFill>
                <a:latin typeface="Microsoft YaHei"/>
              </a:rPr>
              <a:t>•  批准 P0 灰度接入（约 2 周）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F9D55"/>
                </a:solidFill>
                <a:latin typeface="Microsoft YaHei"/>
              </a:rPr>
              <a:t>•  指定 1 个试点产品线 / 页面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F9D55"/>
                </a:solidFill>
                <a:latin typeface="Microsoft YaHei"/>
              </a:rPr>
              <a:t>•  明确数据合规边界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F9D55"/>
                </a:solidFill>
                <a:latin typeface="Microsoft YaHei"/>
              </a:rPr>
              <a:t>•  指派 1 前端 + 1 数据对接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3886200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 w="12700">
            <a:solidFill>
              <a:srgbClr val="24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3995928"/>
            <a:ext cx="64008" cy="1746504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4014215"/>
            <a:ext cx="5038344" cy="1709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🎁 你将获得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F0A020"/>
                </a:solidFill>
                <a:latin typeface="Microsoft YaHei"/>
              </a:rPr>
              <a:t>•  提交正确率与解读效率提升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F0A020"/>
                </a:solidFill>
                <a:latin typeface="Microsoft YaHei"/>
              </a:rPr>
              <a:t>•  根因提速、经验资产化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F0A020"/>
                </a:solidFill>
                <a:latin typeface="Microsoft YaHei"/>
              </a:rPr>
              <a:t>•  已可运行 Demo（本地零配置）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F0A020"/>
                </a:solidFill>
                <a:latin typeface="Microsoft YaHei"/>
              </a:rPr>
              <a:t>•  完整源码 + 设计 + 部署文档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